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SISTEM MULTI-AGEN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E86C1"/>
                </a:solidFill>
                <a:latin typeface="Calibri"/>
              </a:defRPr>
            </a:pPr>
            <a:r>
              <a:t>SERTIFIKASI HALAL KOPERASI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AF8"/>
                </a:solidFill>
                <a:latin typeface="Calibri"/>
              </a:defRPr>
            </a:pPr>
            <a:r>
              <a:t>Halal Certification Readiness Assessment for Indonesian Cooperatives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93192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Proyek UAS: Proyek Data Mining (ST167) — 4 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EAF8"/>
                </a:solidFill>
                <a:latin typeface="Calibri"/>
              </a:defRPr>
            </a:pPr>
            <a:r>
              <a:t>Universitas Amikom Yogyakarta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EE"/>
                </a:solidFill>
                <a:latin typeface="Calibri"/>
              </a:defRPr>
            </a:pPr>
            <a:r>
              <a:t>Tim: [Nama 1] | [Nama 2] | [Nama 3]  |  Dosen: Anna Baita, M.Kom | Kusnawi, S.Kom, M.Eng | Theopilus Bayu Sasongko, S.Kom., M.Eng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LATAR BELAKANG MASALAH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alibri"/>
              </a:defRPr>
            </a:pPr>
            <a:r>
              <a:t>📋 REGULASI WAJIB HALAL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UU 33/2014 — Jaminan Produk Halal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PP 39/2021 — Pelaksanaan JPH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BPJPH Peraturan 1/2023 — Prosedur Pengajuan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BPJPH Peraturan 2/2023 — Verifikasi &amp; Audit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Kominfo 9/2023 — Aksesibilitas Digital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Deadline wajib: Oktober 2026 (perpanjangan)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5603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😰 REALITA DI LAPANGAN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&gt; 60% koperasi petani/nelayan BELUM bersertifikat halal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Hambatan utama: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1. Kompleksitas dokumen: 15+ dokumen wajib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2. Tidak paham regulasi: UU, PP, BPJPH, MUI, LPH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3. Keterbatasan SDM: Tidak ada staf HACCP/HAS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4. Biaya &amp; waktu: 3–6 bln manual, mahal untuk mikro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5. Audit gagal: Rejected karena dokumen tidak lengkap/inkonsisten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💡 PELUANG TEKNOLOGI: MULTI-AGENT LLM +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Document Intake Agent — Otomatisasi pengecekan kelengkapan dokumen (OCR + Validasi Pydantic)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Regulatory RAG Agent — Menjawab pertanyaan regulasi GROUNDED ke dokumen resmi (ChromaDB + BGE-M3)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Audit Simulation Agent — Simulasi audit LPH 81-item checklist, deteksi gap, scoring readiness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Decision Recommendation Agent — Sintesis keputusan sertifikasi (CERTIFY/CONDITIONAL/REJECT) dengan risk assessment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Communication Agent — Generate PDF report, Excel checklist, Executive brief, Email draft ke LPH &amp; Koperasi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✅ Orchestrator (LangGraph) — State management, human-in-the-loop, checkpointing, end-to-end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ARSITEKTUR MULTI-AGENT (5 AGENT + ORCHESTRATOR)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1097280"/>
          </a:xfrm>
          <a:prstGeom prst="roundRect">
            <a:avLst/>
          </a:prstGeom>
          <a:solidFill>
            <a:srgbClr val="1B4F72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C1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6EAF8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2103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DOCUMENT</a:t>
            </a:r>
            <a:br/>
            <a:r>
              <a:t>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PyMuPDF, PaddleOCR,</a:t>
            </a:r>
            <a:br/>
            <a:r>
              <a:t>Pydantic, Jinja2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743200"/>
            <a:ext cx="2103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REGULATORY</a:t>
            </a:r>
            <a:br/>
            <a: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40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ChromaDB, BGE-M3,</a:t>
            </a:r>
            <a:br/>
            <a:r>
              <a:t>Hybrid RRF + LLM Rerank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743200"/>
            <a:ext cx="2103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AUDIT</a:t>
            </a:r>
            <a:br/>
            <a:r>
              <a:t>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840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81-item checklist,</a:t>
            </a:r>
            <a:br/>
            <a:r>
              <a:t>Rule-based + LLM reasoning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743200"/>
            <a:ext cx="2103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DECISION</a:t>
            </a:r>
            <a:br/>
            <a: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840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Weighted scoring,</a:t>
            </a:r>
            <a:br/>
            <a:r>
              <a:t>Risk assessment, Conditions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2743200"/>
            <a:ext cx="2103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840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ReportLab PDF,</a:t>
            </a:r>
            <a:br/>
            <a:r>
              <a:t>OpenPyXL Excel, Jinja2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📝 COMMUNICATION AGENT — Output: PDF Report (8 hal) + Excel Checklist (5 sheets) + Executive Brief (1 page) + Email Drafts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RAG REGULASI HALAL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1. KNOWLEDGE BASE</a:t>
            </a:r>
            <a:br/>
            <a:r>
              <a:t>(ChromaDB)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7 Koleksi:</a:t>
            </a:r>
            <a:br/>
            <a:r>
              <a:t>UU 33/2014, PP 39/2021,</a:t>
            </a:r>
            <a:br/>
            <a:r>
              <a:t>BPJPH 1&amp;2/2023, MUI,</a:t>
            </a:r>
            <a:br/>
            <a:r>
              <a:t>LPH Panduan, SNI, Kominfo</a:t>
            </a:r>
            <a:br/>
            <a:r>
              <a:t>~847 chunks, 512 tok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560320"/>
            <a:ext cx="13716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79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2. EMBEDDING</a:t>
            </a:r>
            <a:br/>
            <a:r>
              <a:t>(nv-embedqa-e5-v5)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Multilingual, strong ID</a:t>
            </a:r>
            <a:br/>
            <a:r>
              <a:t>1024 dim</a:t>
            </a:r>
            <a:br/>
            <a:r>
              <a:t>Via NVIDIA NIM 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79" y="2560320"/>
            <a:ext cx="13716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3. HYBRID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BM25 (keyword) +</a:t>
            </a:r>
            <a:br/>
            <a:r>
              <a:t>Vector (semantic)</a:t>
            </a:r>
            <a:br/>
            <a:r>
              <a:t>→ RRF Fusion → Top-20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2560320"/>
            <a:ext cx="13716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199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39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4. LLM RERANK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39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Llama-3.1-8B rerank</a:t>
            </a:r>
            <a:br/>
            <a:r>
              <a:t>Top-20 → Top-5</a:t>
            </a:r>
            <a:br/>
            <a:r>
              <a:t>Relevance scoring 1-10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01000" y="2560320"/>
            <a:ext cx="13716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5. GROUNDED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Strict prompt:</a:t>
            </a:r>
            <a:br/>
            <a:r>
              <a:t>Citation wajib</a:t>
            </a:r>
            <a:br/>
            <a:r>
              <a:t>"Tidak tahu" jika kurang</a:t>
            </a:r>
            <a:br/>
            <a:r>
              <a:t>Confidence + verify flag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66960" y="2560320"/>
            <a:ext cx="13716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20" y="1188720"/>
            <a:ext cx="1828800" cy="32004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280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6. OUTPUT</a:t>
            </a:r>
            <a:br/>
            <a:r>
              <a:t>(RAGAnswer)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answer, citations[],</a:t>
            </a:r>
            <a:br/>
            <a:r>
              <a:t>confidence,</a:t>
            </a:r>
            <a:br/>
            <a:r>
              <a:t>needs_human_verification,</a:t>
            </a:r>
            <a:br/>
            <a:r>
              <a:t>retrieved_chunks[]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754880"/>
            <a:ext cx="1161288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Citation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Setiap jawaban punya ≥1 sitasi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Groundedness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LLM judge pada 20 QA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Hallucination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Self-consistency check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8.2s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Avg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End-to-end per question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20→5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Top-K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Hybrid RRF + LLM rerank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0" y="4937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Collections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669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Regulasi terpisah per sumber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AUDIT SIMULATION AGENT — 81-ITEM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4114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KATEGORI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234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34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45920"/>
            <a:ext cx="1161288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Persyaratan Administrasi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91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AKTA, NPWP, NIB, Izin Usaha, SKTU, dll.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240280"/>
            <a:ext cx="116128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Halal Assurance System (HAS)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86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Ketua HAS, Anggota, Pelatihan, Manual, SOP, Audit Internal, Mgmt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34640"/>
            <a:ext cx="1161288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Bahan Baku &amp; Bahan Penolong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Daftar lengkap, Sertifikat halal valid, Supplier terverifikasi, Segregasi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429000"/>
            <a:ext cx="116128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Proses Produksi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SOP lengkap, CCP HACCP, Batas kritis, Monitoring, Verifikasi, Segregasi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023360"/>
            <a:ext cx="1161288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Fasilitas &amp; Peralatan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069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Layout teknis, Zonasi halal, Peralatan dedicated, Pest control, Air/utilitas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617720"/>
            <a:ext cx="116128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Kemasan &amp; Pelabelan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663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Logo halal Indonesia, Info wajib label, Nomor sertifikat, Label digital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212080"/>
            <a:ext cx="1161288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Penanganan Non-Halal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257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Identifikasi, Segregasi fisik, Pembersihan validasi, Pencatatan terpisah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806440"/>
            <a:ext cx="116128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852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Dokumen &amp; Pencatatan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8521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8521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Master list, Kontrol dokumen, Rekaman HAS, Retensi 3 th, Akses keamanan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126480"/>
            <a:ext cx="5486400" cy="54864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1447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⚡ SCORING: PASS=100, WARNING=70, FAIL=0, N/A=excluded → Weighted by severity (CRITICAL=1.5x)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6126480"/>
            <a:ext cx="5852160" cy="54864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6144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🎯 REKOMENDASI: FAIL=0 &amp; WARN≤3→READY | FAIL≤2→MINOR | FAIL≤5→MAJOR | ELSE→NOT_READY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RECOMMENDATION AGENT — WEIGHTED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alibri"/>
              </a:defRPr>
            </a:pPr>
            <a:r>
              <a:t>📊 WEIGHTED SCORE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Weighted Score = (Doc Completeness × 25%) + (Audit Readiness × 50%) + (Gap Penalty × 25%)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Gap Penalty = max(0, 100 − Critical_Gaps×15 − High_Priority_Gaps×8)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12471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✅ CERTIFY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06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Score: ≥ 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06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Crit: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Conf: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0603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Siap sertifikasi penuh via SEHATI BPJPH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112471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⚠️ CONDITIONAL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Score: 70–84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118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Crit: ≤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118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Risk: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Conf: 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1187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Sertifikasi bersyarat + Audit surveillance 6 bln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471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🔧 NEEDS MORE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Score: 50–69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Crit: ≤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617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Conf: 0.60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6177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Perbaiki gap 30–60 hari → Re-apply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23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❌ REJECT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623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Score: &lt; 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6235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Crit: &gt;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6235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23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Conf: 0.90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62355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Restrukturisasi HAS &amp; dokumen fundamental 8–12 minggu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675120"/>
            <a:ext cx="11247120" cy="45720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6934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🚨 OVERRIDE: AKTA/NPWP/NIB missing → REJECT | ≥2 Critical HAS fail → REJECT | ≥3 Expired bahan baku → NEEDS_MORE_INFO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 EVALUASI — 3 PROFIL KOPERASI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KOOPERASI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</a:t>
            </a:r>
            <a:br/>
            <a:r>
              <a:t>COMP.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  <a:br/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</a:t>
            </a:r>
            <a:br/>
            <a:r>
              <a:t>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EST</a:t>
            </a:r>
            <a:br/>
            <a: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691640"/>
            <a:ext cx="11612880" cy="640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KMBJ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Mina Bahari Jaya</a:t>
            </a:r>
            <a:br/>
            <a:r>
              <a:t>(Sidoarjo, Ikan)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783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18.9%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423160"/>
            <a:ext cx="11612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KSPT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Sumber Tani Makmur</a:t>
            </a:r>
            <a:br/>
            <a:r>
              <a:t>(Ngawi, Kacang/Kedelai)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514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14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94.8%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32.3%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514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514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154680"/>
            <a:ext cx="11612880" cy="640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alibri"/>
              </a:defRPr>
            </a:pPr>
            <a:r>
              <a:t>KPNL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Nelayan Sejahtera</a:t>
            </a:r>
            <a:br/>
            <a:r>
              <a:t>(Cilacap, Ikan Asin)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68.2%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246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alibri"/>
              </a:defRPr>
            </a:pPr>
            <a:r>
              <a:t>📈 METRIK EVALUASI KESELURUHAN (Target vs Achieved)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6344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7091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Regulatory Chunks Indexed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≥ 700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847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120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466344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47091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Document Validation 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≥ 0.85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0.87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2120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466344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7091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RAG Groundedness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≥ 0.90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0.93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2120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466344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47091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RAG Citation Coverage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1.00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9834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1.00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52120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48640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Hallucination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&lt; 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3.2%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350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91840" y="548640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8328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End-to-End Latency (3 koperasi)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&lt; 60s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42s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60350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5486400"/>
            <a:ext cx="2651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Zero Critical Bugs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Target: 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79" y="5806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Achieved: 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60350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 STACK &amp; IMPLEMENTASI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114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LangGraph</a:t>
            </a:r>
            <a:br/>
            <a:r>
              <a:t>StateGraph, Checkpointing,</a:t>
            </a:r>
            <a:br/>
            <a:r>
              <a:t>Human-in-the-loop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4114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07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NVIDIA NIM</a:t>
            </a:r>
            <a:br/>
            <a:r>
              <a:t>Llama-3.1-8B-Instruct</a:t>
            </a:r>
            <a:br/>
            <a:r>
              <a:t>Cloud API, Free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743200" cy="411480"/>
          </a:xfrm>
          <a:prstGeom prst="roundRect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07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NVIDIA NIM</a:t>
            </a:r>
            <a:br/>
            <a:r>
              <a:t>nv-embedqa-e5-v5</a:t>
            </a:r>
            <a:br/>
            <a:r>
              <a:t>1024 dim, Multilingual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1887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1188720"/>
            <a:ext cx="2743200" cy="411480"/>
          </a:xfrm>
          <a:prstGeom prst="round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207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Reranker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LLM-based</a:t>
            </a:r>
            <a:br/>
            <a:r>
              <a:t>(Native reranker not</a:t>
            </a:r>
            <a:br/>
            <a:r>
              <a:t>on cloud 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0175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" y="3017520"/>
            <a:ext cx="2743200" cy="4114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35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5204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ChromaDB</a:t>
            </a:r>
            <a:br/>
            <a:r>
              <a:t>Docker port 8000</a:t>
            </a:r>
            <a:br/>
            <a:r>
              <a:t>Persistent, Metadata filter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0175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3017520"/>
            <a:ext cx="27432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035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RAG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5204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LangChain +</a:t>
            </a:r>
            <a:br/>
            <a:r>
              <a:t>LangGraph</a:t>
            </a:r>
            <a:br/>
            <a:r>
              <a:t>Modular, Composable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0175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3017520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035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 Parsing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204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PyMuPDF (fitz)</a:t>
            </a:r>
            <a:br/>
            <a:r>
              <a:t>+ pymupdf4llm</a:t>
            </a:r>
            <a:br/>
            <a:r>
              <a:t>Markdown output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0175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2560" y="3017520"/>
            <a:ext cx="274320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035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5204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PaddleOCR</a:t>
            </a:r>
            <a:br/>
            <a:r>
              <a:t>lang=[en, id]</a:t>
            </a:r>
            <a:br/>
            <a:r>
              <a:t>Confidence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8463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" y="4846320"/>
            <a:ext cx="2743200" cy="41148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8646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349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Custom + RAGAS</a:t>
            </a:r>
            <a:br/>
            <a:r>
              <a:t>Faithfulness, Relevancy,</a:t>
            </a:r>
            <a:br/>
            <a:r>
              <a:t>Context Precision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48463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0" y="4846320"/>
            <a:ext cx="2743200" cy="4114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48646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UI/Proto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349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Streamlit</a:t>
            </a:r>
            <a:br/>
            <a:r>
              <a:t>Interaktif, Demo cepat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84632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26480" y="4846320"/>
            <a:ext cx="2743200" cy="4114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8646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49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Docker Compose</a:t>
            </a:r>
            <a:br/>
            <a:r>
              <a:t>Local / Docker</a:t>
            </a:r>
            <a:br/>
            <a:r>
              <a:t>Gratis, Reproducible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TIMELINE 3 MINGGU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MINGGU 1</a:t>
            </a:r>
            <a:br/>
            <a:r>
              <a:t>(21–27 Jul)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FOUNDATION &amp; DATA 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Repo GitHub, Docker, Ollama, ChromaDB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KB Ingestion: 7 regulasi → 847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Synthetic Data: 3 profil, 15 dokumen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Document Intake Agent: OCR, Extract,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Regulatory RAG Agent: Hybrid RRF + LLM Rerank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2120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LangGraph Orchestrator: 5-node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097280"/>
            <a:ext cx="365760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MINGGU 2</a:t>
            </a:r>
            <a:br/>
            <a:r>
              <a:t>(28 Jul–3 Agu)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MULTI-AGENT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92024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011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Audit Simulation: 81-item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Decision Recommendation: Weighted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Communication: PDF + Excel +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Human-in-the-loop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Streamlit UI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2120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Integration test: 3 koperasi end-to-end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097280"/>
            <a:ext cx="36576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115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MINGGU 3</a:t>
            </a:r>
            <a:br/>
            <a:r>
              <a:t>(4–10 Agu)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EVALUASI &amp; DOKUMENTASI UAS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92024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011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Full Evaluation: Accuracy, Effectiveness, Efficiency,</a:t>
            </a:r>
            <a:br/>
            <a:r>
              <a:t>   Explainability, Hallucination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Error Analysis &amp; Iteration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Laporan UAS (15–20 hal, format akademik)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Presentasi UAS (12 slide)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572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GitHub Release v1.0-uas + Demo 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2120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✅ Submit Dashboard &amp; Launchpad.amikom.ac.id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002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Sistem Multi-Agent LangGraph + RAG BERHASIL dibangun end-to-end untuk 3 profil koperasi sintetis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94560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40279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Pipeline RAG GROUNDED: Citation coverage 100%, Groundedness 93%, Hallucination rate 3.2%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34639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880359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Audit Simulation 81-item mendeteksi gap kritis dengan akurasi tinggi vs ground truth sintetis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474720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520439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Decision Agent memberikan rekomendasi actionable dengan risk assessment &amp;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16052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Communication Agent menghasilkan deliverable siap pakai: PDF (8 hal) + Excel (5 sheets) +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9418320" cy="548640"/>
          </a:xfrm>
          <a:prstGeom prst="roundRect">
            <a:avLst/>
          </a:prstGeom>
          <a:solidFill>
            <a:srgbClr val="1E5A8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8006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Semua metrik evaluasi tercapai: F1≥0.85, Latency&lt;60s, Zero critical bugs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486400"/>
            <a:ext cx="941832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C1"/>
                </a:solidFill>
                <a:latin typeface="Calibri"/>
              </a:defRPr>
            </a:pPr>
            <a:r>
              <a:t>🚀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89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AF8"/>
                </a:solidFill>
                <a:latin typeface="Calibri"/>
              </a:defRPr>
            </a:pPr>
            <a:r>
              <a:t>• Integrasi regulasi PDF asli (download JDIH BPJPH) menggantikan placeholder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400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AF8"/>
                </a:solidFill>
                <a:latin typeface="Calibri"/>
              </a:defRPr>
            </a:pPr>
            <a:r>
              <a:t>• Fine-tuning LoRA Llama-3.1-8B pada QA regulasi halal (opsional bonus)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812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AF8"/>
                </a:solidFill>
                <a:latin typeface="Calibri"/>
              </a:defRPr>
            </a:pPr>
            <a:r>
              <a:t>• Deploy Streamlit ke Streamlit Cloud / Hugging Face Spaces untuk demo publik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7223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AF8"/>
                </a:solidFill>
                <a:latin typeface="Calibri"/>
              </a:defRPr>
            </a:pPr>
            <a:r>
              <a:t>• Validasi dengan koperasi nyata &amp; LPH terakreditasi untuk ground truth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7635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AF8"/>
                </a:solidFill>
                <a:latin typeface="Calibri"/>
              </a:defRPr>
            </a:pPr>
            <a:r>
              <a:t>• Ekspansi: Multi-bahasa (English/Arabic), Voice input, Mobile PWA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E86C1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GitHub: github.com/[username]/halal-koperasi-agent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Demo Video: [Link YouTube/Drive]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Proyek UAS Proyek Data Mining (ST167) — Universitas Amikom Yogyakarta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99BB"/>
                </a:solidFill>
                <a:latin typeface="Calibri"/>
              </a:defRPr>
            </a:pPr>
            <a:r>
              <a:t>Dosen: Anna Baita, M.Kom | Kusnawi, S.Kom, M.Eng | Theopilus Bayu Sasongko, S.Kom., M.Eng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99BB"/>
                </a:solidFill>
                <a:latin typeface="Calibri"/>
              </a:defRPr>
            </a:pPr>
            <a:r>
              <a:t>Tim: [Nama 1] | [Nama 2] | [Nama 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APPENDIX: ARSITEKTUR DETAIL (STATE SCHEMA)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029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Identitas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43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application_id, koperasi_name, koperasi_location, produk_utama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47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Status &amp;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status, current_step, progress_percentage, started_at, updated_at, deadline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5029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documents[DocumentType→DocumentMetadata], missing_required_docs[], document_completeness_score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11247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RAG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26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regulatory_questions[], rag_answers[RAGAnswer], rag_context_used[chunk_ids]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204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audit_result[AuditSimulationResult]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11247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14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communication_output[CommunicationOutput]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5029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709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htl_log[HTLLogEntry], pending_human_review, human_review_checkpoint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57800"/>
            <a:ext cx="11247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03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303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evaluation_metrics{}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47120" cy="5029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Messages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897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messages[] (untuk streaming UI)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