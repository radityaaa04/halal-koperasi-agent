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F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SISTEM MULTI-AGEN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E86C1"/>
                </a:solidFill>
                <a:latin typeface="Calibri"/>
              </a:defRPr>
            </a:pPr>
            <a:r>
              <a:t>SERTIFIKASI HALAL KOPERASI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6EAF8"/>
                </a:solidFill>
                <a:latin typeface="Calibri"/>
              </a:defRPr>
            </a:pPr>
            <a:r>
              <a:t>Halal Certification Readiness Assessment for Indonesian Cooperatives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206240"/>
            <a:ext cx="393192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Proyek UAS: Proyek Data Mining (ST167) — 4 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9377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6EAF8"/>
                </a:solidFill>
                <a:latin typeface="Calibri"/>
              </a:defRPr>
            </a:pPr>
            <a:r>
              <a:t>Universitas Amikom Yogyakarta |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4864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CCEE"/>
                </a:solidFill>
                <a:latin typeface="Calibri"/>
              </a:defRPr>
            </a:pPr>
            <a:r>
              <a:t>Tim: [Nama 1] | [Nama 2] | [Nama 3]  |  Dosen: Anna Baita, M.Kom | Kusnawi, S.Kom, M.Eng | Theopilus Bayu Sasongko, S.Kom., M.Eng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LATAR BELAKANG MASALAH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303520" cy="256032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4F72"/>
                </a:solidFill>
                <a:latin typeface="Calibri"/>
              </a:defRPr>
            </a:pPr>
            <a:r>
              <a:t>📋 REGULASI WAJIB HALAL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UU 33/2014 — Jaminan Produk Halal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PP 39/2021 — Pelaksanaan JPH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BPJPH Peraturan 1/2023 — Prosedur Pengajuan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BPJPH Peraturan 2/2023 — Verifikasi &amp; Audit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Kominfo 9/2023 — Aksesibilitas Digital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Deadline wajib: Oktober 2026 (perpanjangan)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188720"/>
            <a:ext cx="5303520" cy="2560320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😰 REALITA DI LAPANGAN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&gt; 60% koperasi petani/nelayan BELUM bersertifikat halal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Hambatan utama: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  1. Kompleksitas dokumen: 15+ dokumen wajib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  2. Tidak paham regulasi: UU, PP, BPJPH, MUI, LPH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  3. Keterbatasan SDM: Tidak ada staf HACCP/HAS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  4. Biaya &amp; waktu: 3–6 bln manual, mahal untuk mikro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  5. Audit gagal: Rejected karena dokumen tidak lengkap/inkonsisten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114800"/>
            <a:ext cx="11247120" cy="228600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AE60"/>
                </a:solidFill>
                <a:latin typeface="Calibri"/>
              </a:defRPr>
            </a:pPr>
            <a:r>
              <a:t>💡 PELUANG TEKNOLOGI: MULTI-AGENT LLM +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✅ Document Intake Agent — Otomatisasi pengecekan kelengkapan dokumen (OCR + Validasi Pydantic)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✅ Regulatory RAG Agent — Menjawab pertanyaan regulasi GROUNDED ke dokumen resmi (ChromaDB + BGE-M3)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✅ Audit Simulation Agent — Simulasi audit LPH 81-item checklist, deteksi gap, scoring readiness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✅ Decision Recommendation Agent — Sintesis keputusan sertifikasi (CERTIFY/CONDITIONAL/REJECT) dengan risk assessment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✅ Communication Agent — Generate PDF report, Excel checklist, Executive brief, Email draft ke LPH &amp; Koperasi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✅ Orchestrator (LangGraph) — State management, human-in-the-loop, checkpointing, end-to-end workflow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ARSITEKTUR MULTI-AGENT (5 AGENT + ORCHESTRATOR)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097280"/>
            <a:ext cx="3931920" cy="1097280"/>
          </a:xfrm>
          <a:prstGeom prst="roundRect">
            <a:avLst/>
          </a:prstGeom>
          <a:solidFill>
            <a:srgbClr val="1B4F72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0" y="11887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86C1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4173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459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6EAF8"/>
                </a:solidFill>
                <a:latin typeface="Calibri"/>
              </a:defRPr>
            </a:pPr>
            <a:r>
              <a:t>LangGraph StateGraph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743200"/>
            <a:ext cx="21031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834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t>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004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DOCUMENT</a:t>
            </a:r>
            <a:br/>
            <a:r>
              <a:t>INTAKE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4048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PyMuPDF, PaddleOCR,</a:t>
            </a:r>
            <a:br/>
            <a:r>
              <a:t>Pydantic, Jinja2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2743200"/>
            <a:ext cx="21031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2834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32004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REGULATORY</a:t>
            </a:r>
            <a:br/>
            <a:r>
              <a:t>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84048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ChromaDB, BGE-M3,</a:t>
            </a:r>
            <a:br/>
            <a:r>
              <a:t>Hybrid RRF + LLM Rerank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2743200"/>
            <a:ext cx="21031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834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2004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AUDIT</a:t>
            </a:r>
            <a:br/>
            <a:r>
              <a:t>SIMULATION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84048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81-item checklist,</a:t>
            </a:r>
            <a:br/>
            <a:r>
              <a:t>Rule-based + LLM reasoning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743200"/>
            <a:ext cx="21031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2834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t>⚖️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2004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DECISION</a:t>
            </a:r>
            <a:br/>
            <a: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384048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Weighted scoring,</a:t>
            </a:r>
            <a:br/>
            <a:r>
              <a:t>Risk assessment, Conditions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2743200"/>
            <a:ext cx="21031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8120" y="2834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t>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32004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COMMUNICATION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384048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ReportLab PDF,</a:t>
            </a:r>
            <a:br/>
            <a:r>
              <a:t>OpenPyXL Excel, Jinja2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486400"/>
            <a:ext cx="11430000" cy="109728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📝 COMMUNICATION AGENT — Output: PDF Report (8 hal) + Excel Checklist (5 sheets) + Executive Brief (1 page) + Email Drafts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 RAG REGULASI HALAL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1828800" cy="320040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4F72"/>
                </a:solidFill>
                <a:latin typeface="Calibri"/>
              </a:defRPr>
            </a:pPr>
            <a:r>
              <a:t>1. KNOWLEDGE BASE</a:t>
            </a:r>
            <a:br/>
            <a:r>
              <a:t>(ChromaDB)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645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7 Koleksi:</a:t>
            </a:r>
            <a:br/>
            <a:r>
              <a:t>UU 33/2014, PP 39/2021,</a:t>
            </a:r>
            <a:br/>
            <a:r>
              <a:t>BPJPH 1&amp;2/2023, MUI,</a:t>
            </a:r>
            <a:br/>
            <a:r>
              <a:t>LPH Panduan, SNI, Kominfo</a:t>
            </a:r>
            <a:br/>
            <a:r>
              <a:t>~847 chunks, 512 tok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03120" y="2560320"/>
            <a:ext cx="137160" cy="365760"/>
          </a:xfrm>
          <a:prstGeom prst="rightArrow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240279" y="1188720"/>
            <a:ext cx="1828800" cy="320040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12801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4F72"/>
                </a:solidFill>
                <a:latin typeface="Calibri"/>
              </a:defRPr>
            </a:pPr>
            <a:r>
              <a:t>2. EMBEDDING</a:t>
            </a:r>
            <a:br/>
            <a:r>
              <a:t>(nv-embedqa-e5-v5)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03120"/>
            <a:ext cx="1645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Multilingual, strong ID</a:t>
            </a:r>
            <a:br/>
            <a:r>
              <a:t>1024 dim</a:t>
            </a:r>
            <a:br/>
            <a:r>
              <a:t>Via NVIDIA NIM API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69079" y="2560320"/>
            <a:ext cx="137160" cy="365760"/>
          </a:xfrm>
          <a:prstGeom prst="rightArrow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188720"/>
            <a:ext cx="1828800" cy="320040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12801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4F72"/>
                </a:solidFill>
                <a:latin typeface="Calibri"/>
              </a:defRPr>
            </a:pPr>
            <a:r>
              <a:t>3. HYBRID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2103120"/>
            <a:ext cx="1645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BM25 (keyword) +</a:t>
            </a:r>
            <a:br/>
            <a:r>
              <a:t>Vector (semantic)</a:t>
            </a:r>
            <a:br/>
            <a:r>
              <a:t>→ RRF Fusion → Top-20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35040" y="2560320"/>
            <a:ext cx="137160" cy="365760"/>
          </a:xfrm>
          <a:prstGeom prst="rightArrow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199" y="1188720"/>
            <a:ext cx="1828800" cy="320040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39" y="12801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4F72"/>
                </a:solidFill>
                <a:latin typeface="Calibri"/>
              </a:defRPr>
            </a:pPr>
            <a:r>
              <a:t>4. LLM RERANK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39" y="2103120"/>
            <a:ext cx="1645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Llama-3.1-8B rerank</a:t>
            </a:r>
            <a:br/>
            <a:r>
              <a:t>Top-20 → Top-5</a:t>
            </a:r>
            <a:br/>
            <a:r>
              <a:t>Relevance scoring 1-10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001000" y="2560320"/>
            <a:ext cx="137160" cy="365760"/>
          </a:xfrm>
          <a:prstGeom prst="rightArrow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38160" y="1188720"/>
            <a:ext cx="1828800" cy="320040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2801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4F72"/>
                </a:solidFill>
                <a:latin typeface="Calibri"/>
              </a:defRPr>
            </a:pPr>
            <a:r>
              <a:t>5. GROUNDED GENERATE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103120"/>
            <a:ext cx="1645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Strict prompt:</a:t>
            </a:r>
            <a:br/>
            <a:r>
              <a:t>Citation wajib</a:t>
            </a:r>
            <a:br/>
            <a:r>
              <a:t>"Tidak tahu" jika kurang</a:t>
            </a:r>
            <a:br/>
            <a:r>
              <a:t>Confidence + verify flag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966960" y="2560320"/>
            <a:ext cx="137160" cy="365760"/>
          </a:xfrm>
          <a:prstGeom prst="rightArrow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104120" y="1188720"/>
            <a:ext cx="1828800" cy="320040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5560" y="12801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4F72"/>
                </a:solidFill>
                <a:latin typeface="Calibri"/>
              </a:defRPr>
            </a:pPr>
            <a:r>
              <a:t>6. OUTPUT</a:t>
            </a:r>
            <a:br/>
            <a:r>
              <a:t>(RAGAnswer)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5560" y="2103120"/>
            <a:ext cx="1645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answer, citations[],</a:t>
            </a:r>
            <a:br/>
            <a:r>
              <a:t>confidence,</a:t>
            </a:r>
            <a:br/>
            <a:r>
              <a:t>needs_human_verification,</a:t>
            </a:r>
            <a:br/>
            <a:r>
              <a:t>retrieved_chunks[]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754880"/>
            <a:ext cx="11612880" cy="16459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7200" y="4937760"/>
            <a:ext cx="17373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029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4F72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Citation Coverage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6928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Calibri"/>
              </a:defRPr>
            </a:pPr>
            <a:r>
              <a:t>Setiap jawaban punya ≥1 sitasi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77440" y="4937760"/>
            <a:ext cx="17373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0" y="5029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4F72"/>
                </a:solidFill>
                <a:latin typeface="Calibri"/>
              </a:defRPr>
            </a:pPr>
            <a:r>
              <a:t>93%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Groundedness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566928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Calibri"/>
              </a:defRPr>
            </a:pPr>
            <a:r>
              <a:t>LLM judge pada 20 QA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4937760"/>
            <a:ext cx="17373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0" y="5029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4F72"/>
                </a:solidFill>
                <a:latin typeface="Calibri"/>
              </a:defRPr>
            </a:pPr>
            <a:r>
              <a:t>3.2%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Hallucination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566928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Calibri"/>
              </a:defRPr>
            </a:pPr>
            <a:r>
              <a:t>Self-consistency check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937760"/>
            <a:ext cx="17373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5029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4F72"/>
                </a:solidFill>
                <a:latin typeface="Calibri"/>
              </a:defRPr>
            </a:pPr>
            <a:r>
              <a:t>8.2s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Avg Latency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566928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Calibri"/>
              </a:defRPr>
            </a:pPr>
            <a:r>
              <a:t>End-to-end per question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38160" y="4937760"/>
            <a:ext cx="17373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0" y="5029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4F72"/>
                </a:solidFill>
                <a:latin typeface="Calibri"/>
              </a:defRPr>
            </a:pPr>
            <a:r>
              <a:t>20→5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Top-K Retrieval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66928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Calibri"/>
              </a:defRPr>
            </a:pPr>
            <a:r>
              <a:t>Hybrid RRF + LLM rerank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058400" y="4937760"/>
            <a:ext cx="17373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49840" y="5029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4F72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9840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Collections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566928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Calibri"/>
              </a:defRPr>
            </a:pPr>
            <a:r>
              <a:t>Regulasi terpisah per sumber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AUDIT SIMULATION AGENT — 81-ITEM CHECKLIST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11612880" cy="41148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KAT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34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KATEGORI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2344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2344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DETAIL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645920"/>
            <a:ext cx="11612880" cy="54864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691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Persyaratan Administrasi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6916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86C1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691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AKTA, NPWP, NIB, Izin Usaha, SKTU, dll.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240280"/>
            <a:ext cx="116128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286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Halal Assurance System (HAS)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286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86C1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2860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Ketua HAS, Anggota, Pelatihan, Manual, SOP, Audit Internal, Mgmt Review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2834640"/>
            <a:ext cx="11612880" cy="54864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80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880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Bahan Baku &amp; Bahan Penolong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8803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86C1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8803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Daftar lengkap, Sertifikat halal valid, Supplier terverifikasi, Segregasi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429000"/>
            <a:ext cx="116128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Proses Produksi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474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86C1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34747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SOP lengkap, CCP HACCP, Batas kritis, Monitoring, Verifikasi, Segregasi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4023360"/>
            <a:ext cx="11612880" cy="54864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069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Fasilitas &amp; Peralatan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40690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86C1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40690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Layout teknis, Zonasi halal, Peralatan dedicated, Pest control, Air/utilitas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4617720"/>
            <a:ext cx="116128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4663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46634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Kemasan &amp; Pelabelan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4663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86C1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46634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Logo halal Indonesia, Info wajib label, Nomor sertifikat, Label digital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4320" y="5212080"/>
            <a:ext cx="11612880" cy="54864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257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Penanganan Non-Halal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40" y="5257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86C1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52578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Identifikasi, Segregasi fisik, Pembersihan validasi, Pencatatan terpisah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5806440"/>
            <a:ext cx="116128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58521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85215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Dokumen &amp; Pencatatan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585215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86C1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46320" y="585215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Master list, Kontrol dokumen, Rekaman HAS, Retensi 3 th, Akses keamanan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6126480"/>
            <a:ext cx="5486400" cy="54864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14476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alibri"/>
              </a:defRPr>
            </a:pPr>
            <a:r>
              <a:t>⚡ SCORING: PASS=100, WARNING=70, FAIL=0, N/A=excluded → Weighted by severity (CRITICAL=1.5x)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35040" y="6126480"/>
            <a:ext cx="5852160" cy="548640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0" y="61447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🎯 REKOMENDASI: FAIL=0 &amp; WARN≤3→READY | FAIL≤2→MINOR | FAIL≤5→MAJOR | ELSE→NOT_READY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DECISION RECOMMENDATION AGENT — WEIGHTED SCORING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109728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4F72"/>
                </a:solidFill>
                <a:latin typeface="Calibri"/>
              </a:defRPr>
            </a:pPr>
            <a:r>
              <a:t>📊 WEIGHTED SCORE FORMULA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Calibri"/>
              </a:defRPr>
            </a:pPr>
            <a:r>
              <a:t>Weighted Score = (Doc Completeness × 25%) + (Audit Readiness × 50%) + (Gap Penalty × 25%)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Gap Penalty = max(0, 100 − Critical_Gaps×15 − High_Priority_Gaps×8)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11247120" cy="91440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060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✅ CERTIFY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0603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Score: ≥ 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60603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Crit: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0603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Risk: 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Conf: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606039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Siap sertifikasi penuh via SEHATI BPJPH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566160"/>
            <a:ext cx="11247120" cy="91440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61187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⚠️ CONDITIONAL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61187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Score: 70–84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6118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Crit: ≤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61187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Risk: MEDIUM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61187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Conf: 0.85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611879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Sertifikasi bersyarat + Audit surveillance 6 bln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72000"/>
            <a:ext cx="11247120" cy="91440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617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🔧 NEEDS MORE INFO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617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Score: 50–69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617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Crit: ≤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617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Risk: 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6177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Conf: 0.60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6177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Perbaiki gap 30–60 hari → Re-apply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577840"/>
            <a:ext cx="11247120" cy="91440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62355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❌ REJECT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562355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Score: &lt; 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562355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Crit: &gt;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562355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Risk: CRITICAL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62355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Conf: 0.90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5623559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Restrukturisasi HAS &amp; dokumen fundamental 8–12 minggu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675120"/>
            <a:ext cx="11247120" cy="457200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6934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🚨 OVERRIDE: AKTA/NPWP/NIB missing → REJECT | ≥2 Critical HAS fail → REJECT | ≥3 Expired bahan baku → NEEDS_MORE_INFO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HASIL EVALUASI — 3 PROFIL KOPERASI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11612880" cy="45720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KOOPERASI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234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PROFIL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2344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DOC</a:t>
            </a:r>
            <a:br/>
            <a:r>
              <a:t>COMP.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344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AUDIT</a:t>
            </a:r>
            <a:br/>
            <a: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2344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2344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</a:t>
            </a:r>
            <a:br/>
            <a:r>
              <a:t>GAPS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2344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EST</a:t>
            </a:r>
            <a:br/>
            <a:r>
              <a:t>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1234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1691640"/>
            <a:ext cx="11612880" cy="64008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373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KMBJ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1737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Mina Bahari Jaya</a:t>
            </a:r>
            <a:br/>
            <a:r>
              <a:t>(Sidoarjo, Ikan)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7830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62%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7830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39C12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17830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4C3C"/>
                </a:solidFill>
                <a:latin typeface="Calibri"/>
              </a:defRPr>
            </a:pPr>
            <a:r>
              <a:t>18.9%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7830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Calibri"/>
              </a:defRPr>
            </a:pPr>
            <a:r>
              <a:t>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17830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60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23160"/>
            <a:ext cx="116128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4688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KSPT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Sumber Tani Makmur</a:t>
            </a:r>
            <a:br/>
            <a:r>
              <a:t>(Ngawi, Kacang/Kedelai)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5146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78%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5146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39C12"/>
                </a:solidFill>
                <a:latin typeface="Calibri"/>
              </a:defRPr>
            </a:pPr>
            <a:r>
              <a:t>94.8%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5146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4C3C"/>
                </a:solidFill>
                <a:latin typeface="Calibri"/>
              </a:defRPr>
            </a:pPr>
            <a:r>
              <a:t>32.3%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5146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Calibri"/>
              </a:defRPr>
            </a:pPr>
            <a:r>
              <a:t>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5146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45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3154680"/>
            <a:ext cx="11612880" cy="64008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200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4F72"/>
                </a:solidFill>
                <a:latin typeface="Calibri"/>
              </a:defRPr>
            </a:pPr>
            <a:r>
              <a:t>KPNL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2004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Nelayan Sejahtera</a:t>
            </a:r>
            <a:br/>
            <a:r>
              <a:t>(Cilacap, Ikan Asin)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32461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35%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2461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39C12"/>
                </a:solidFill>
                <a:latin typeface="Calibri"/>
              </a:defRPr>
            </a:pPr>
            <a:r>
              <a:t>68.2%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32461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4C3C"/>
                </a:solidFill>
                <a:latin typeface="Calibri"/>
              </a:defRPr>
            </a:pPr>
            <a:r>
              <a:t>7.4%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2461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Calibri"/>
              </a:defRPr>
            </a:pPr>
            <a:r>
              <a:t>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32461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75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14800"/>
            <a:ext cx="11612880" cy="24688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4F72"/>
                </a:solidFill>
                <a:latin typeface="Calibri"/>
              </a:defRPr>
            </a:pPr>
            <a:r>
              <a:t>📈 METRIK EVALUASI KESELURUHAN (Target vs Achieved)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663440"/>
            <a:ext cx="265176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709159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Regulatory Chunks Indexed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9834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Target: ≥ 700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49834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Achieved: 847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212079"/>
            <a:ext cx="45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1840" y="4663440"/>
            <a:ext cx="265176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83280" y="4709159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Document Validation F1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83280" y="49834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Target: ≥ 0.85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49834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Achieved: 0.87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83280" y="5212079"/>
            <a:ext cx="45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26480" y="4663440"/>
            <a:ext cx="265176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4709159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RAG Groundedness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49834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Target: ≥ 0.90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79" y="49834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Achieved: 0.93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5212079"/>
            <a:ext cx="45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61120" y="4663440"/>
            <a:ext cx="265176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52560" y="4709159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RAG Citation Coverage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2560" y="49834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Target: 1.00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32720" y="49834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Achieved: 1.00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5212079"/>
            <a:ext cx="45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5486400"/>
            <a:ext cx="265176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5321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Hallucination Rate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806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Target: &lt; 5%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0" y="5806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Achieved: 3.2%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6035040"/>
            <a:ext cx="45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5486400"/>
            <a:ext cx="265176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383280" y="55321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End-to-End Latency (3 koperasi)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83280" y="5806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Target: &lt; 60s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63440" y="5806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Achieved: 42s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83280" y="6035040"/>
            <a:ext cx="45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26480" y="5486400"/>
            <a:ext cx="265176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17920" y="55321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Zero Critical Bugs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5806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Target: 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98079" y="5806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Achieved: 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6035040"/>
            <a:ext cx="45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TECH STACK &amp; IMPLEMENTASI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27432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2743200" cy="41148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070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LangGraph</a:t>
            </a:r>
            <a:br/>
            <a:r>
              <a:t>StateGraph, Checkpointing,</a:t>
            </a:r>
            <a:br/>
            <a:r>
              <a:t>Human-in-the-loop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188720"/>
            <a:ext cx="27432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0" y="1188720"/>
            <a:ext cx="2743200" cy="41148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2070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NVIDIA NIM</a:t>
            </a:r>
            <a:br/>
            <a:r>
              <a:t>Llama-3.1-8B-Instruct</a:t>
            </a:r>
            <a:br/>
            <a:r>
              <a:t>Cloud API, Free 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88720"/>
            <a:ext cx="27432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0" y="1188720"/>
            <a:ext cx="2743200" cy="411480"/>
          </a:xfrm>
          <a:prstGeom prst="roundRect">
            <a:avLst/>
          </a:prstGeom>
          <a:solidFill>
            <a:srgbClr val="1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2070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Embedding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NVIDIA NIM</a:t>
            </a:r>
            <a:br/>
            <a:r>
              <a:t>nv-embedqa-e5-v5</a:t>
            </a:r>
            <a:br/>
            <a:r>
              <a:t>1024 dim, Multilingual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188720"/>
            <a:ext cx="27432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D3C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52560" y="1188720"/>
            <a:ext cx="2743200" cy="411480"/>
          </a:xfrm>
          <a:prstGeom prst="round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2070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Reranker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LLM-based</a:t>
            </a:r>
            <a:br/>
            <a:r>
              <a:t>(Native reranker not</a:t>
            </a:r>
            <a:br/>
            <a:r>
              <a:t>on cloud API)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3017520"/>
            <a:ext cx="27432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4320" y="3017520"/>
            <a:ext cx="2743200" cy="4114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0358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Vector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52043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ChromaDB</a:t>
            </a:r>
            <a:br/>
            <a:r>
              <a:t>Docker port 8000</a:t>
            </a:r>
            <a:br/>
            <a:r>
              <a:t>Persistent, Metadata filter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3017520"/>
            <a:ext cx="27432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00400" y="3017520"/>
            <a:ext cx="274320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30358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RAG Framework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52043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LangChain +</a:t>
            </a:r>
            <a:br/>
            <a:r>
              <a:t>LangGraph</a:t>
            </a:r>
            <a:br/>
            <a:r>
              <a:t>Modular, Composable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017520"/>
            <a:ext cx="27432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26480" y="3017520"/>
            <a:ext cx="274320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30358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Doc Parsing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52043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PyMuPDF (fitz)</a:t>
            </a:r>
            <a:br/>
            <a:r>
              <a:t>+ pymupdf4llm</a:t>
            </a:r>
            <a:br/>
            <a:r>
              <a:t>Markdown output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52560" y="3017520"/>
            <a:ext cx="27432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052560" y="3017520"/>
            <a:ext cx="2743200" cy="41148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30358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OCR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52043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PaddleOCR</a:t>
            </a:r>
            <a:br/>
            <a:r>
              <a:t>lang=[en, id]</a:t>
            </a:r>
            <a:br/>
            <a:r>
              <a:t>Confidence threshold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4846320"/>
            <a:ext cx="27432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74320" y="4846320"/>
            <a:ext cx="2743200" cy="411480"/>
          </a:xfrm>
          <a:prstGeom prst="round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864607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53492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Custom + RAGAS</a:t>
            </a:r>
            <a:br/>
            <a:r>
              <a:t>Faithfulness, Relevancy,</a:t>
            </a:r>
            <a:br/>
            <a:r>
              <a:t>Context Precision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00400" y="4846320"/>
            <a:ext cx="27432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200400" y="4846320"/>
            <a:ext cx="2743200" cy="411480"/>
          </a:xfrm>
          <a:prstGeom prst="round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91840" y="4864607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UI/Proto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0" y="53492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Streamlit</a:t>
            </a:r>
            <a:br/>
            <a:r>
              <a:t>Interaktif, Demo cepat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26480" y="4846320"/>
            <a:ext cx="27432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26480" y="4846320"/>
            <a:ext cx="2743200" cy="4114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4864607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53492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Docker Compose</a:t>
            </a:r>
            <a:br/>
            <a:r>
              <a:t>Local / Docker</a:t>
            </a:r>
            <a:br/>
            <a:r>
              <a:t>Gratis, Reproducible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TIMELINE 3 MINGGU &amp;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3657600" cy="7315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MINGGU 1</a:t>
            </a:r>
            <a:br/>
            <a:r>
              <a:t>(21–27 Jul)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FOUNDATION &amp; DATA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920240"/>
            <a:ext cx="365760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20116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Repo GitHub, Docker, Ollama, ChromaDB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6517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KB Ingestion: 7 regulasi → 847 chunks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32918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Synthetic Data: 3 profil, 15 dokumen 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93192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Document Intake Agent: OCR, Extract, Validate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457200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Regulatory RAG Agent: Hybrid RRF + LLM Rerank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52120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LangGraph Orchestrator: 5-node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097280"/>
            <a:ext cx="3657600" cy="7315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115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MINGGU 2</a:t>
            </a:r>
            <a:br/>
            <a:r>
              <a:t>(28 Jul–3 Agu)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1463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MULTI-AGENT SYSTEM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1920240"/>
            <a:ext cx="365760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20116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Audit Simulation: 81-item checklist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6517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Decision Recommendation: Weighted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2918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Communication: PDF + Excel + Brief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93192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Human-in-the-loop checkpoints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57200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Streamlit UI Prototype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52120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Integration test: 3 koperasi end-to-end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1097280"/>
            <a:ext cx="365760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115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MINGGU 3</a:t>
            </a:r>
            <a:br/>
            <a:r>
              <a:t>(4–10 Agu)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1463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EVALUASI &amp; DOKUMENTASI UAS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1920240"/>
            <a:ext cx="365760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20116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Full Evaluation: Accuracy, Effectiveness, Efficiency,</a:t>
            </a:r>
            <a:br/>
            <a:r>
              <a:t>   Explainability, Hallucination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517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Error Analysis &amp; Iteration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2918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Laporan UAS (15–20 hal, format akademik)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393192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Presentasi UAS (12 slide)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57200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GitHub Release v1.0-uas + Demo Video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52120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✅ Submit Dashboard &amp; Launchpad.amikom.ac.id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F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KESIMPULAN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554480"/>
            <a:ext cx="9418320" cy="548640"/>
          </a:xfrm>
          <a:prstGeom prst="roundRect">
            <a:avLst/>
          </a:prstGeom>
          <a:solidFill>
            <a:srgbClr val="1E5A85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60020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✅ Sistem Multi-Agent LangGraph + RAG BERHASIL dibangun end-to-end untuk 3 profil koperasi sintetis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194560"/>
            <a:ext cx="9418320" cy="548640"/>
          </a:xfrm>
          <a:prstGeom prst="roundRect">
            <a:avLst/>
          </a:prstGeom>
          <a:solidFill>
            <a:srgbClr val="1E5A85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240279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✅ Pipeline RAG GROUNDED: Citation coverage 100%, Groundedness 93%, Hallucination rate 3.2%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34639"/>
            <a:ext cx="9418320" cy="548640"/>
          </a:xfrm>
          <a:prstGeom prst="roundRect">
            <a:avLst/>
          </a:prstGeom>
          <a:solidFill>
            <a:srgbClr val="1E5A85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2880359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✅ Audit Simulation 81-item mendeteksi gap kritis dengan akurasi tinggi vs ground truth sintetis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474720"/>
            <a:ext cx="9418320" cy="548640"/>
          </a:xfrm>
          <a:prstGeom prst="roundRect">
            <a:avLst/>
          </a:prstGeom>
          <a:solidFill>
            <a:srgbClr val="1E5A85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520439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✅ Decision Agent memberikan rekomendasi actionable dengan risk assessment &amp; timeline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114800"/>
            <a:ext cx="9418320" cy="548640"/>
          </a:xfrm>
          <a:prstGeom prst="roundRect">
            <a:avLst/>
          </a:prstGeom>
          <a:solidFill>
            <a:srgbClr val="1E5A85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416052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✅ Communication Agent menghasilkan deliverable siap pakai: PDF (8 hal) + Excel (5 sheets) + Brief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754880"/>
            <a:ext cx="9418320" cy="548640"/>
          </a:xfrm>
          <a:prstGeom prst="roundRect">
            <a:avLst/>
          </a:prstGeom>
          <a:solidFill>
            <a:srgbClr val="1E5A85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480060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✅ Semua metrik evaluasi tercapai: F1≥0.85, Latency&lt;60s, Zero critical bugs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5486400"/>
            <a:ext cx="941832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55778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86C1"/>
                </a:solidFill>
                <a:latin typeface="Calibri"/>
              </a:defRPr>
            </a:pPr>
            <a:r>
              <a:t>🚀 FUTURE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98932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6EAF8"/>
                </a:solidFill>
                <a:latin typeface="Calibri"/>
              </a:defRPr>
            </a:pPr>
            <a:r>
              <a:t>• Integrasi regulasi PDF asli (download JDIH BPJPH) menggantikan placeholder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4008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6EAF8"/>
                </a:solidFill>
                <a:latin typeface="Calibri"/>
              </a:defRPr>
            </a:pPr>
            <a:r>
              <a:t>• Fine-tuning LoRA Llama-3.1-8B pada QA regulasi halal (opsional bonus)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8122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6EAF8"/>
                </a:solidFill>
                <a:latin typeface="Calibri"/>
              </a:defRPr>
            </a:pPr>
            <a:r>
              <a:t>• Deploy Streamlit ke Streamlit Cloud / Hugging Face Spaces untuk demo publik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722376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6EAF8"/>
                </a:solidFill>
                <a:latin typeface="Calibri"/>
              </a:defRPr>
            </a:pPr>
            <a:r>
              <a:t>• Validasi dengan koperasi nyata &amp; LPH terakreditasi untuk ground truth real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763524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6EAF8"/>
                </a:solidFill>
                <a:latin typeface="Calibri"/>
              </a:defRPr>
            </a:pPr>
            <a:r>
              <a:t>• Ekspansi: Multi-bahasa (English/Arabic), Voice input, Mobile PWA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F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E86C1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474720"/>
            <a:ext cx="393192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GitHub: github.com/[username]/halal-koperasi-agent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976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Demo Video: [Link YouTube/Drive]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Proyek UAS Proyek Data Mining (ST167) — Universitas Amikom Yogyakarta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120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799BB"/>
                </a:solidFill>
                <a:latin typeface="Calibri"/>
              </a:defRPr>
            </a:pPr>
            <a:r>
              <a:t>Dosen: Anna Baita, M.Kom | Kusnawi, S.Kom, M.Eng | Theopilus Bayu Sasongko, S.Kom., M.Eng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6692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799BB"/>
                </a:solidFill>
                <a:latin typeface="Calibri"/>
              </a:defRPr>
            </a:pPr>
            <a:r>
              <a:t>Tim: [Nama 1] | [Nama 2] | [Nama 3]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APPENDIX: ARSITEKTUR DETAIL (STATE SCHEMA)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47120" cy="50292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4F72"/>
                </a:solidFill>
                <a:latin typeface="Calibri"/>
              </a:defRPr>
            </a:pPr>
            <a:r>
              <a:t>Identitas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14300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application_id, koperasi_name, koperasi_location, produk_utama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11247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4F72"/>
                </a:solidFill>
                <a:latin typeface="Calibri"/>
              </a:defRPr>
            </a:pPr>
            <a:r>
              <a:t>Status &amp; Progress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73736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status, current_step, progress_percentage, started_at, updated_at, deadline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11247120" cy="50292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4F72"/>
                </a:solidFill>
                <a:latin typeface="Calibri"/>
              </a:defRPr>
            </a:pPr>
            <a:r>
              <a:t>Documents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33172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documents[DocumentType→DocumentMetadata], missing_required_docs[], document_completeness_score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11247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26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4F72"/>
                </a:solidFill>
                <a:latin typeface="Calibri"/>
              </a:defRPr>
            </a:pPr>
            <a:r>
              <a:t>RAG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92608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regulatory_questions[], rag_answers[RAGAnswer], rag_context_used[chunk_ids]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74720"/>
            <a:ext cx="11247120" cy="50292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204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4F72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520439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audit_result[AuditSimulationResult]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69080"/>
            <a:ext cx="11247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148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4F72"/>
                </a:solidFill>
                <a:latin typeface="Calibri"/>
              </a:defRPr>
            </a:pPr>
            <a:r>
              <a:t>Communication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11480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communication_output[CommunicationOutput]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50292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7091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4F72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470916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htl_log[HTLLogEntry], pending_human_review, human_review_checkpoint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257800"/>
            <a:ext cx="11247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3035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4F72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530352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evaluation_metrics{}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852160"/>
            <a:ext cx="11247120" cy="502920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897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4F72"/>
                </a:solidFill>
                <a:latin typeface="Calibri"/>
              </a:defRPr>
            </a:pPr>
            <a:r>
              <a:t>Messages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589788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messages[] (untuk streaming UI)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